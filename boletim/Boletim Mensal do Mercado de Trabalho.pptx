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</p:sldIdLst>
  <p:sldSz cx="10058400" cy="7772400"/>
  <p:notesSz cx="6858000" cy="9144000"/>
  <p:embeddedFontLst>
    <p:embeddedFont>
      <p:font typeface="Arial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5D9C9-258F-4F37-A746-01427D995056}" v="4" dt="2026-04-27T12:25:27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5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lber Tomás de Oliveira" userId="f38840f8-3d24-4281-b69d-7689a1b4043c" providerId="ADAL" clId="{EC4C7D62-60EE-4276-8F0C-02CE07C46A7B}"/>
    <pc:docChg chg="modSld">
      <pc:chgData name="Welber Tomás de Oliveira" userId="f38840f8-3d24-4281-b69d-7689a1b4043c" providerId="ADAL" clId="{EC4C7D62-60EE-4276-8F0C-02CE07C46A7B}" dt="2026-04-27T12:22:07.815" v="91" actId="20577"/>
      <pc:docMkLst>
        <pc:docMk/>
      </pc:docMkLst>
      <pc:sldChg chg="modSp mod">
        <pc:chgData name="Welber Tomás de Oliveira" userId="f38840f8-3d24-4281-b69d-7689a1b4043c" providerId="ADAL" clId="{EC4C7D62-60EE-4276-8F0C-02CE07C46A7B}" dt="2026-04-27T12:22:07.815" v="91" actId="20577"/>
        <pc:sldMkLst>
          <pc:docMk/>
          <pc:sldMk cId="0" sldId="256"/>
        </pc:sldMkLst>
        <pc:spChg chg="mod">
          <ac:chgData name="Welber Tomás de Oliveira" userId="f38840f8-3d24-4281-b69d-7689a1b4043c" providerId="ADAL" clId="{EC4C7D62-60EE-4276-8F0C-02CE07C46A7B}" dt="2026-04-27T12:22:07.815" v="9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pp.powerbi.com/view?r=eyJrIjoiM2Q0OTAzNTMtOGZlMy00MWI4LWEwOTgtODI3NDQ0OTI2OTcxIiwidCI6ImNkNWU2ZDIzLWNiOTktNDE4OS04OGFiLTFhOTAyMWEwYzQ1MSJ9&amp;pageName=5ee4935e1b595a5bff60" TargetMode="External"/><Relationship Id="rId5" Type="http://schemas.openxmlformats.org/officeDocument/2006/relationships/hyperlink" Target="https://www.ieri.ufu.br/cepes/linhas-de-pesquisa/mercado-de-trabalho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058400" cy="7772400"/>
          </a:xfrm>
          <a:custGeom>
            <a:avLst/>
            <a:gdLst/>
            <a:ahLst/>
            <a:cxnLst/>
            <a:rect l="l" t="t" r="r" b="b"/>
            <a:pathLst>
              <a:path w="10058400" h="7772400">
                <a:moveTo>
                  <a:pt x="0" y="0"/>
                </a:moveTo>
                <a:lnTo>
                  <a:pt x="10058400" y="0"/>
                </a:lnTo>
                <a:lnTo>
                  <a:pt x="10058400" y="7772400"/>
                </a:lnTo>
                <a:lnTo>
                  <a:pt x="0" y="777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99" t="-1470" r="-9399" b="-14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777239" y="3497968"/>
            <a:ext cx="7630871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7200" b="1" spc="-453" dirty="0">
                <a:solidFill>
                  <a:srgbClr val="2B327A"/>
                </a:solidFill>
                <a:latin typeface="Arial Bold"/>
                <a:ea typeface="Arial Bold"/>
                <a:cs typeface="Arial Bold"/>
                <a:sym typeface="Arial Bold"/>
              </a:rPr>
              <a:t>UBERLÂNDIA - MG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77240" y="4556402"/>
            <a:ext cx="4728204" cy="710788"/>
            <a:chOff x="0" y="-57150"/>
            <a:chExt cx="1063667" cy="159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3667" cy="102751"/>
            </a:xfrm>
            <a:custGeom>
              <a:avLst/>
              <a:gdLst/>
              <a:ahLst/>
              <a:cxnLst/>
              <a:rect l="l" t="t" r="r" b="b"/>
              <a:pathLst>
                <a:path w="1063667" h="102751">
                  <a:moveTo>
                    <a:pt x="51375" y="0"/>
                  </a:moveTo>
                  <a:lnTo>
                    <a:pt x="1012291" y="0"/>
                  </a:lnTo>
                  <a:cubicBezTo>
                    <a:pt x="1025917" y="0"/>
                    <a:pt x="1038984" y="5413"/>
                    <a:pt x="1048619" y="15047"/>
                  </a:cubicBezTo>
                  <a:cubicBezTo>
                    <a:pt x="1058254" y="24682"/>
                    <a:pt x="1063667" y="37750"/>
                    <a:pt x="1063667" y="51375"/>
                  </a:cubicBezTo>
                  <a:lnTo>
                    <a:pt x="1063667" y="51375"/>
                  </a:lnTo>
                  <a:cubicBezTo>
                    <a:pt x="1063667" y="79749"/>
                    <a:pt x="1040665" y="102751"/>
                    <a:pt x="1012291" y="102751"/>
                  </a:cubicBezTo>
                  <a:lnTo>
                    <a:pt x="51375" y="102751"/>
                  </a:lnTo>
                  <a:cubicBezTo>
                    <a:pt x="37750" y="102751"/>
                    <a:pt x="24682" y="97338"/>
                    <a:pt x="15047" y="87703"/>
                  </a:cubicBezTo>
                  <a:cubicBezTo>
                    <a:pt x="5413" y="78068"/>
                    <a:pt x="0" y="65001"/>
                    <a:pt x="0" y="51375"/>
                  </a:cubicBezTo>
                  <a:lnTo>
                    <a:pt x="0" y="51375"/>
                  </a:lnTo>
                  <a:cubicBezTo>
                    <a:pt x="0" y="37750"/>
                    <a:pt x="5413" y="24682"/>
                    <a:pt x="15047" y="15047"/>
                  </a:cubicBezTo>
                  <a:cubicBezTo>
                    <a:pt x="24682" y="5413"/>
                    <a:pt x="37750" y="0"/>
                    <a:pt x="51375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063667" cy="15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44"/>
                </a:lnSpc>
                <a:spcBef>
                  <a:spcPct val="0"/>
                </a:spcBef>
              </a:pPr>
              <a:r>
                <a:rPr lang="en-US" sz="2246" spc="599" dirty="0">
                  <a:solidFill>
                    <a:srgbClr val="87878B"/>
                  </a:solidFill>
                  <a:latin typeface="Arial"/>
                  <a:ea typeface="Arial"/>
                  <a:cs typeface="Arial"/>
                  <a:sym typeface="Arial"/>
                </a:rPr>
                <a:t>FEVEREIRO DE 2026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4051025" y="6508622"/>
            <a:ext cx="1618559" cy="500517"/>
          </a:xfrm>
          <a:custGeom>
            <a:avLst/>
            <a:gdLst/>
            <a:ahLst/>
            <a:cxnLst/>
            <a:rect l="l" t="t" r="r" b="b"/>
            <a:pathLst>
              <a:path w="1618559" h="500517">
                <a:moveTo>
                  <a:pt x="0" y="0"/>
                </a:moveTo>
                <a:lnTo>
                  <a:pt x="1618559" y="0"/>
                </a:lnTo>
                <a:lnTo>
                  <a:pt x="1618559" y="500517"/>
                </a:lnTo>
                <a:lnTo>
                  <a:pt x="0" y="500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459" b="-1945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777240" y="6571538"/>
            <a:ext cx="1694200" cy="374684"/>
          </a:xfrm>
          <a:custGeom>
            <a:avLst/>
            <a:gdLst/>
            <a:ahLst/>
            <a:cxnLst/>
            <a:rect l="l" t="t" r="r" b="b"/>
            <a:pathLst>
              <a:path w="1694200" h="374684">
                <a:moveTo>
                  <a:pt x="0" y="0"/>
                </a:moveTo>
                <a:lnTo>
                  <a:pt x="1694200" y="0"/>
                </a:lnTo>
                <a:lnTo>
                  <a:pt x="1694200" y="374684"/>
                </a:lnTo>
                <a:lnTo>
                  <a:pt x="0" y="37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743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3031534" y="6530122"/>
            <a:ext cx="457517" cy="457517"/>
          </a:xfrm>
          <a:custGeom>
            <a:avLst/>
            <a:gdLst/>
            <a:ahLst/>
            <a:cxnLst/>
            <a:rect l="l" t="t" r="r" b="b"/>
            <a:pathLst>
              <a:path w="457517" h="457517">
                <a:moveTo>
                  <a:pt x="0" y="0"/>
                </a:moveTo>
                <a:lnTo>
                  <a:pt x="457516" y="0"/>
                </a:lnTo>
                <a:lnTo>
                  <a:pt x="457516" y="457517"/>
                </a:lnTo>
                <a:lnTo>
                  <a:pt x="0" y="457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777240" y="2427202"/>
            <a:ext cx="7630871" cy="816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3053" b="1" spc="815" dirty="0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</a:rPr>
              <a:t>BOLETIM MENSAL DO EMPREGO DE</a:t>
            </a:r>
          </a:p>
        </p:txBody>
      </p:sp>
      <p:sp>
        <p:nvSpPr>
          <p:cNvPr id="11" name="Freeform 11"/>
          <p:cNvSpPr/>
          <p:nvPr/>
        </p:nvSpPr>
        <p:spPr>
          <a:xfrm rot="-5400000">
            <a:off x="5029200" y="2429228"/>
            <a:ext cx="10058400" cy="3242828"/>
          </a:xfrm>
          <a:custGeom>
            <a:avLst/>
            <a:gdLst/>
            <a:ahLst/>
            <a:cxnLst/>
            <a:rect l="l" t="t" r="r" b="b"/>
            <a:pathLst>
              <a:path w="10058400" h="3242828">
                <a:moveTo>
                  <a:pt x="0" y="0"/>
                </a:moveTo>
                <a:lnTo>
                  <a:pt x="10058400" y="0"/>
                </a:lnTo>
                <a:lnTo>
                  <a:pt x="10058400" y="3242829"/>
                </a:lnTo>
                <a:lnTo>
                  <a:pt x="0" y="32428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 rot="2855406">
            <a:off x="-2971548" y="5943724"/>
            <a:ext cx="4469485" cy="1440962"/>
          </a:xfrm>
          <a:custGeom>
            <a:avLst/>
            <a:gdLst/>
            <a:ahLst/>
            <a:cxnLst/>
            <a:rect l="l" t="t" r="r" b="b"/>
            <a:pathLst>
              <a:path w="4469485" h="1440962">
                <a:moveTo>
                  <a:pt x="0" y="0"/>
                </a:moveTo>
                <a:lnTo>
                  <a:pt x="4469485" y="0"/>
                </a:lnTo>
                <a:lnTo>
                  <a:pt x="4469485" y="1440962"/>
                </a:lnTo>
                <a:lnTo>
                  <a:pt x="0" y="1440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Freeform 13"/>
          <p:cNvSpPr/>
          <p:nvPr/>
        </p:nvSpPr>
        <p:spPr>
          <a:xfrm rot="9928149">
            <a:off x="-1147936" y="-747425"/>
            <a:ext cx="4298383" cy="1385799"/>
          </a:xfrm>
          <a:custGeom>
            <a:avLst/>
            <a:gdLst/>
            <a:ahLst/>
            <a:cxnLst/>
            <a:rect l="l" t="t" r="r" b="b"/>
            <a:pathLst>
              <a:path w="4298383" h="1385799">
                <a:moveTo>
                  <a:pt x="0" y="0"/>
                </a:moveTo>
                <a:lnTo>
                  <a:pt x="4298382" y="0"/>
                </a:lnTo>
                <a:lnTo>
                  <a:pt x="4298382" y="1385798"/>
                </a:lnTo>
                <a:lnTo>
                  <a:pt x="0" y="1385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058400" cy="7772400"/>
          </a:xfrm>
          <a:custGeom>
            <a:avLst/>
            <a:gdLst/>
            <a:ahLst/>
            <a:cxnLst/>
            <a:rect l="l" t="t" r="r" b="b"/>
            <a:pathLst>
              <a:path w="10058400" h="7772400">
                <a:moveTo>
                  <a:pt x="0" y="0"/>
                </a:moveTo>
                <a:lnTo>
                  <a:pt x="10058400" y="0"/>
                </a:lnTo>
                <a:lnTo>
                  <a:pt x="10058400" y="7772400"/>
                </a:lnTo>
                <a:lnTo>
                  <a:pt x="0" y="777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99" t="-1470" r="-9399" b="-14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5400000">
            <a:off x="5029200" y="2429228"/>
            <a:ext cx="10058400" cy="3242828"/>
          </a:xfrm>
          <a:custGeom>
            <a:avLst/>
            <a:gdLst/>
            <a:ahLst/>
            <a:cxnLst/>
            <a:rect l="l" t="t" r="r" b="b"/>
            <a:pathLst>
              <a:path w="10058400" h="3242828">
                <a:moveTo>
                  <a:pt x="0" y="0"/>
                </a:moveTo>
                <a:lnTo>
                  <a:pt x="10058400" y="0"/>
                </a:lnTo>
                <a:lnTo>
                  <a:pt x="10058400" y="3242829"/>
                </a:lnTo>
                <a:lnTo>
                  <a:pt x="0" y="32428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77240" y="1524452"/>
            <a:ext cx="2478309" cy="4229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rPr>
              <a:t>UNIVERSIDADE FEDERAL DE UBERLÂNDIA </a:t>
            </a:r>
          </a:p>
          <a:p>
            <a:pPr algn="ctr">
              <a:lnSpc>
                <a:spcPts val="1615"/>
              </a:lnSpc>
            </a:pP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Carlos Henrique de Carvalho </a:t>
            </a:r>
          </a:p>
          <a:p>
            <a:pPr algn="ctr">
              <a:lnSpc>
                <a:spcPts val="1615"/>
              </a:lnSpc>
            </a:pPr>
            <a:r>
              <a:rPr lang="en-US" sz="1599" b="1" spc="79" dirty="0" err="1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</a:rPr>
              <a:t>Reitor</a:t>
            </a:r>
            <a:endParaRPr lang="en-US" sz="1599" b="1" spc="79" dirty="0">
              <a:solidFill>
                <a:srgbClr val="87878B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1615"/>
              </a:lnSpc>
            </a:pPr>
            <a:endParaRPr lang="en-US" sz="1599" b="1" spc="79" dirty="0">
              <a:solidFill>
                <a:srgbClr val="87878B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1615"/>
              </a:lnSpc>
            </a:pPr>
            <a:r>
              <a: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rPr>
              <a:t>INSTITUTO DE ECONOMIA E RELAÇÕES INTERNACIONAIS</a:t>
            </a:r>
          </a:p>
          <a:p>
            <a:pPr algn="ctr">
              <a:lnSpc>
                <a:spcPts val="1615"/>
              </a:lnSpc>
            </a:pP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Marcelo Sartorio </a:t>
            </a:r>
            <a:r>
              <a:rPr lang="en-US" sz="1599" spc="79" dirty="0" err="1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Loural</a:t>
            </a:r>
            <a:endParaRPr lang="en-US" sz="1599" spc="79" dirty="0">
              <a:solidFill>
                <a:srgbClr val="87878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615"/>
              </a:lnSpc>
            </a:pPr>
            <a:r>
              <a:rPr lang="en-US" sz="1599" b="1" spc="79" dirty="0" err="1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</a:rPr>
              <a:t>Diretor</a:t>
            </a:r>
            <a:r>
              <a:rPr lang="en-US" sz="1599" b="1" spc="79" dirty="0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ctr">
              <a:lnSpc>
                <a:spcPts val="1615"/>
              </a:lnSpc>
            </a:pPr>
            <a:r>
              <a:rPr lang="en-US" sz="1599" b="1" spc="79" dirty="0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ctr">
              <a:lnSpc>
                <a:spcPts val="1615"/>
              </a:lnSpc>
            </a:pPr>
            <a:r>
              <a: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rPr>
              <a:t>CENTRO DE ESTUDOS, PESQUISAS E PROJETOS ECONÔMICO-SOCIAIS</a:t>
            </a:r>
          </a:p>
          <a:p>
            <a:pPr algn="ctr">
              <a:lnSpc>
                <a:spcPts val="1615"/>
              </a:lnSpc>
            </a:pP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Henrique Ferreira de Souza </a:t>
            </a:r>
          </a:p>
          <a:p>
            <a:pPr algn="ctr">
              <a:lnSpc>
                <a:spcPts val="1615"/>
              </a:lnSpc>
            </a:pPr>
            <a:r>
              <a:rPr lang="en-US" sz="1599" b="1" spc="79" dirty="0" err="1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</a:rPr>
              <a:t>Coordenador</a:t>
            </a:r>
            <a:endParaRPr lang="en-US" sz="1599" b="1" spc="79" dirty="0">
              <a:solidFill>
                <a:srgbClr val="87878B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5" name="Freeform 5"/>
          <p:cNvSpPr/>
          <p:nvPr/>
        </p:nvSpPr>
        <p:spPr>
          <a:xfrm rot="2855406">
            <a:off x="-2971548" y="5943724"/>
            <a:ext cx="4469485" cy="1440962"/>
          </a:xfrm>
          <a:custGeom>
            <a:avLst/>
            <a:gdLst/>
            <a:ahLst/>
            <a:cxnLst/>
            <a:rect l="l" t="t" r="r" b="b"/>
            <a:pathLst>
              <a:path w="4469485" h="1440962">
                <a:moveTo>
                  <a:pt x="0" y="0"/>
                </a:moveTo>
                <a:lnTo>
                  <a:pt x="4469485" y="0"/>
                </a:lnTo>
                <a:lnTo>
                  <a:pt x="4469485" y="1440962"/>
                </a:lnTo>
                <a:lnTo>
                  <a:pt x="0" y="1440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9928149">
            <a:off x="-1147936" y="-747425"/>
            <a:ext cx="4298383" cy="1385799"/>
          </a:xfrm>
          <a:custGeom>
            <a:avLst/>
            <a:gdLst/>
            <a:ahLst/>
            <a:cxnLst/>
            <a:rect l="l" t="t" r="r" b="b"/>
            <a:pathLst>
              <a:path w="4298383" h="1385799">
                <a:moveTo>
                  <a:pt x="0" y="0"/>
                </a:moveTo>
                <a:lnTo>
                  <a:pt x="4298382" y="0"/>
                </a:lnTo>
                <a:lnTo>
                  <a:pt x="4298382" y="1385798"/>
                </a:lnTo>
                <a:lnTo>
                  <a:pt x="0" y="1385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3583944" y="2115002"/>
            <a:ext cx="2890511" cy="3038983"/>
            <a:chOff x="0" y="0"/>
            <a:chExt cx="3854015" cy="4051977"/>
          </a:xfrm>
        </p:grpSpPr>
        <p:sp>
          <p:nvSpPr>
            <p:cNvPr id="8" name="TextBox 8"/>
            <p:cNvSpPr txBox="1"/>
            <p:nvPr/>
          </p:nvSpPr>
          <p:spPr>
            <a:xfrm>
              <a:off x="0" y="9525"/>
              <a:ext cx="3854015" cy="40424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5"/>
                </a:lnSpc>
              </a:pPr>
              <a:r>
                <a:rPr lang="en-US" sz="1599" b="1" spc="79" dirty="0">
                  <a:solidFill>
                    <a:srgbClr val="282D7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ELABORAÇÃO</a:t>
              </a: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endParaRPr lang="en-US" sz="1599" b="1" spc="79" dirty="0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1615"/>
                </a:lnSpc>
              </a:pPr>
              <a:r>
                <a:rPr lang="en-US" sz="1599" b="1" spc="79" dirty="0">
                  <a:solidFill>
                    <a:srgbClr val="282D7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EQUIPE</a:t>
              </a:r>
            </a:p>
            <a:p>
              <a:pPr algn="ctr">
                <a:lnSpc>
                  <a:spcPts val="1615"/>
                </a:lnSpc>
              </a:pPr>
              <a:r>
                <a:rPr lang="en-US" sz="1599" spc="79" dirty="0">
                  <a:solidFill>
                    <a:srgbClr val="87878B"/>
                  </a:solidFill>
                  <a:latin typeface="Arial"/>
                  <a:ea typeface="Arial"/>
                  <a:cs typeface="Arial"/>
                  <a:sym typeface="Arial"/>
                </a:rPr>
                <a:t>Alanna Santos de Oliveira</a:t>
              </a:r>
            </a:p>
            <a:p>
              <a:pPr algn="ctr">
                <a:lnSpc>
                  <a:spcPts val="1615"/>
                </a:lnSpc>
              </a:pPr>
              <a:r>
                <a:rPr lang="en-US" sz="1599" spc="79" dirty="0">
                  <a:solidFill>
                    <a:srgbClr val="87878B"/>
                  </a:solidFill>
                  <a:latin typeface="Arial"/>
                  <a:ea typeface="Arial"/>
                  <a:cs typeface="Arial"/>
                  <a:sym typeface="Arial"/>
                </a:rPr>
                <a:t>Ester William Ferreira</a:t>
              </a:r>
            </a:p>
            <a:p>
              <a:pPr algn="ctr">
                <a:lnSpc>
                  <a:spcPts val="1615"/>
                </a:lnSpc>
              </a:pPr>
              <a:r>
                <a:rPr lang="en-US" sz="1599" spc="79" dirty="0">
                  <a:solidFill>
                    <a:srgbClr val="87878B"/>
                  </a:solidFill>
                  <a:latin typeface="Arial"/>
                  <a:ea typeface="Arial"/>
                  <a:cs typeface="Arial"/>
                  <a:sym typeface="Arial"/>
                </a:rPr>
                <a:t>Maria Carolina do Amaral Couto</a:t>
              </a:r>
            </a:p>
            <a:p>
              <a:pPr algn="ctr">
                <a:lnSpc>
                  <a:spcPts val="1615"/>
                </a:lnSpc>
              </a:pPr>
              <a:r>
                <a:rPr lang="en-US" sz="1599" spc="79" dirty="0">
                  <a:solidFill>
                    <a:srgbClr val="87878B"/>
                  </a:solidFill>
                  <a:latin typeface="Arial"/>
                  <a:ea typeface="Arial"/>
                  <a:cs typeface="Arial"/>
                  <a:sym typeface="Arial"/>
                </a:rPr>
                <a:t>Welber Tomás de Oliveira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44975" y="479311"/>
              <a:ext cx="3764064" cy="1068994"/>
            </a:xfrm>
            <a:custGeom>
              <a:avLst/>
              <a:gdLst/>
              <a:ahLst/>
              <a:cxnLst/>
              <a:rect l="l" t="t" r="r" b="b"/>
              <a:pathLst>
                <a:path w="3764064" h="1068994">
                  <a:moveTo>
                    <a:pt x="0" y="0"/>
                  </a:moveTo>
                  <a:lnTo>
                    <a:pt x="3764065" y="0"/>
                  </a:lnTo>
                  <a:lnTo>
                    <a:pt x="3764065" y="1068994"/>
                  </a:lnTo>
                  <a:lnTo>
                    <a:pt x="0" y="10689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798306" y="2124527"/>
            <a:ext cx="2478309" cy="282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599" b="1" spc="79">
                <a:solidFill>
                  <a:srgbClr val="282D77"/>
                </a:solidFill>
                <a:latin typeface="Arial Bold"/>
                <a:ea typeface="Arial Bold"/>
                <a:cs typeface="Arial Bold"/>
                <a:sym typeface="Arial Bold"/>
              </a:rPr>
              <a:t>CONTATO</a:t>
            </a:r>
          </a:p>
          <a:p>
            <a:pPr algn="ctr">
              <a:lnSpc>
                <a:spcPts val="1615"/>
              </a:lnSpc>
            </a:pPr>
            <a:endParaRPr lang="en-US" sz="1599" b="1" spc="79">
              <a:solidFill>
                <a:srgbClr val="282D77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1615"/>
              </a:lnSpc>
            </a:pPr>
            <a:r>
              <a:rPr lang="en-US" sz="1599" spc="79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Av. João Naves de Ávila, 2121 – Bloco J – Sala 1J127 – Campus Santa Mônica – Uberlândia/MG  Telefones: (34) 3239-4323 / (34) 3239-4328</a:t>
            </a:r>
          </a:p>
          <a:p>
            <a:pPr algn="ctr">
              <a:lnSpc>
                <a:spcPts val="1615"/>
              </a:lnSpc>
            </a:pPr>
            <a:endParaRPr lang="en-US" sz="1599" spc="79">
              <a:solidFill>
                <a:srgbClr val="87878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1615"/>
              </a:lnSpc>
            </a:pPr>
            <a:r>
              <a:rPr lang="en-US" sz="1599" u="sng" spc="79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  <a:hlinkClick r:id="rId5" tooltip="https://www.ieri.ufu.br/cepes/linhas-de-pesquisa/mercado-de-trabalho"/>
              </a:rPr>
              <a:t>https://www.ieri.ufu.br/cepes/linhas-de-pesquisa/mercado-de-trabalho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240" y="6454401"/>
            <a:ext cx="8542020" cy="42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Visite </a:t>
            </a:r>
            <a:r>
              <a:rPr lang="en-US" sz="1599" spc="79" dirty="0" err="1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também</a:t>
            </a: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599" b="1" u="sng" spc="79" dirty="0" err="1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  <a:hlinkClick r:id="rId6" tooltip="https://app.powerbi.com/view?r=eyJrIjoiM2Q0OTAzNTMtOGZlMy00MWI4LWEwOTgtODI3NDQ0OTI2OTcxIiwidCI6ImNkNWU2ZDIzLWNiOTktNDE4OS04OGFiLTFhOTAyMWEwYzQ1MSJ9&amp;pageName=5ee4935e1b595a5bff60"/>
              </a:rPr>
              <a:t>Painel</a:t>
            </a:r>
            <a:r>
              <a:rPr lang="en-US" sz="1599" b="1" u="sng" spc="79" dirty="0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  <a:hlinkClick r:id="rId6" tooltip="https://app.powerbi.com/view?r=eyJrIjoiM2Q0OTAzNTMtOGZlMy00MWI4LWEwOTgtODI3NDQ0OTI2OTcxIiwidCI6ImNkNWU2ZDIzLWNiOTktNDE4OS04OGFiLTFhOTAyMWEwYzQ1MSJ9&amp;pageName=5ee4935e1b595a5bff60"/>
              </a:rPr>
              <a:t> de dados do </a:t>
            </a:r>
            <a:r>
              <a:rPr lang="en-US" sz="1599" b="1" u="sng" spc="79" dirty="0" err="1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  <a:hlinkClick r:id="rId6" tooltip="https://app.powerbi.com/view?r=eyJrIjoiM2Q0OTAzNTMtOGZlMy00MWI4LWEwOTgtODI3NDQ0OTI2OTcxIiwidCI6ImNkNWU2ZDIzLWNiOTktNDE4OS04OGFiLTFhOTAyMWEwYzQ1MSJ9&amp;pageName=5ee4935e1b595a5bff60"/>
              </a:rPr>
              <a:t>emprego</a:t>
            </a:r>
            <a:r>
              <a:rPr lang="en-US" sz="1599" b="1" u="sng" spc="79" dirty="0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  <a:hlinkClick r:id="rId6" tooltip="https://app.powerbi.com/view?r=eyJrIjoiM2Q0OTAzNTMtOGZlMy00MWI4LWEwOTgtODI3NDQ0OTI2OTcxIiwidCI6ImNkNWU2ZDIzLWNiOTktNDE4OS04OGFiLTFhOTAyMWEwYzQ1MSJ9&amp;pageName=5ee4935e1b595a5bff60"/>
              </a:rPr>
              <a:t> formal de </a:t>
            </a:r>
            <a:r>
              <a:rPr lang="en-US" sz="1599" b="1" u="sng" spc="79" dirty="0" err="1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  <a:hlinkClick r:id="rId6" tooltip="https://app.powerbi.com/view?r=eyJrIjoiM2Q0OTAzNTMtOGZlMy00MWI4LWEwOTgtODI3NDQ0OTI2OTcxIiwidCI6ImNkNWU2ZDIzLWNiOTktNDE4OS04OGFiLTFhOTAyMWEwYzQ1MSJ9&amp;pageName=5ee4935e1b595a5bff60"/>
              </a:rPr>
              <a:t>Uberlândia</a:t>
            </a:r>
            <a:r>
              <a:rPr lang="en-US" sz="1599" b="1" u="sng" spc="79" dirty="0">
                <a:solidFill>
                  <a:srgbClr val="87878B"/>
                </a:solidFill>
                <a:latin typeface="Arial Bold"/>
                <a:ea typeface="Arial Bold"/>
                <a:cs typeface="Arial Bold"/>
                <a:sym typeface="Arial Bold"/>
                <a:hlinkClick r:id="rId6" tooltip="https://app.powerbi.com/view?r=eyJrIjoiM2Q0OTAzNTMtOGZlMy00MWI4LWEwOTgtODI3NDQ0OTI2OTcxIiwidCI6ImNkNWU2ZDIzLWNiOTktNDE4OS04OGFiLTFhOTAyMWEwYzQ1MSJ9&amp;pageName=5ee4935e1b595a5bff60"/>
              </a:rPr>
              <a:t> (MG)</a:t>
            </a: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 para dados </a:t>
            </a:r>
            <a:r>
              <a:rPr lang="en-US" sz="1599" spc="79" dirty="0" err="1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históricos</a:t>
            </a: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599" spc="79" dirty="0" err="1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Uberlândia</a:t>
            </a: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599" spc="79" dirty="0" err="1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comparação</a:t>
            </a: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 com outros </a:t>
            </a:r>
            <a:r>
              <a:rPr lang="en-US" sz="1599" spc="79" dirty="0" err="1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municípios</a:t>
            </a: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 spc="79" dirty="0" err="1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brasileiros</a:t>
            </a:r>
            <a:r>
              <a:rPr lang="en-US" sz="1599" spc="79" dirty="0">
                <a:solidFill>
                  <a:srgbClr val="87878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CD0B3401C10644BD1A825D39D0171F" ma:contentTypeVersion="10" ma:contentTypeDescription="Crie um novo documento." ma:contentTypeScope="" ma:versionID="e79c1efc00bdec1643ed2c2eb6776ac5">
  <xsd:schema xmlns:xsd="http://www.w3.org/2001/XMLSchema" xmlns:xs="http://www.w3.org/2001/XMLSchema" xmlns:p="http://schemas.microsoft.com/office/2006/metadata/properties" xmlns:ns2="7914ab4b-20f4-4087-ab7c-a478fbc5b30a" xmlns:ns3="04d645b9-b00e-4fbc-a94a-2732e6560e9c" targetNamespace="http://schemas.microsoft.com/office/2006/metadata/properties" ma:root="true" ma:fieldsID="62f3af6391602aded0d4001ac01d6b1e" ns2:_="" ns3:_="">
    <xsd:import namespace="7914ab4b-20f4-4087-ab7c-a478fbc5b30a"/>
    <xsd:import namespace="04d645b9-b00e-4fbc-a94a-2732e6560e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4ab4b-20f4-4087-ab7c-a478fbc5b3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597c33c-ecc2-476f-a0fa-1296a3cd85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d645b9-b00e-4fbc-a94a-2732e6560e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d795891-2052-43b7-9a5f-412de2fdf945}" ma:internalName="TaxCatchAll" ma:showField="CatchAllData" ma:web="04d645b9-b00e-4fbc-a94a-2732e6560e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14ab4b-20f4-4087-ab7c-a478fbc5b30a">
      <Terms xmlns="http://schemas.microsoft.com/office/infopath/2007/PartnerControls"/>
    </lcf76f155ced4ddcb4097134ff3c332f>
    <TaxCatchAll xmlns="04d645b9-b00e-4fbc-a94a-2732e6560e9c" xsi:nil="true"/>
  </documentManagement>
</p:properties>
</file>

<file path=customXml/itemProps1.xml><?xml version="1.0" encoding="utf-8"?>
<ds:datastoreItem xmlns:ds="http://schemas.openxmlformats.org/officeDocument/2006/customXml" ds:itemID="{6E3F3AC3-301B-47A6-A81C-B7E1D5C9D7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14ab4b-20f4-4087-ab7c-a478fbc5b30a"/>
    <ds:schemaRef ds:uri="04d645b9-b00e-4fbc-a94a-2732e6560e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E99030-5A94-4CC8-9763-2B861D5728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F37A08-BE4A-4717-90D4-FCEE36A6AB4A}">
  <ds:schemaRefs>
    <ds:schemaRef ds:uri="http://purl.org/dc/terms/"/>
    <ds:schemaRef ds:uri="http://www.w3.org/XML/1998/namespace"/>
    <ds:schemaRef ds:uri="http://schemas.microsoft.com/office/infopath/2007/PartnerControls"/>
    <ds:schemaRef ds:uri="7914ab4b-20f4-4087-ab7c-a478fbc5b30a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04d645b9-b00e-4fbc-a94a-2732e6560e9c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137</Words>
  <Application>Microsoft Office PowerPoint</Application>
  <PresentationFormat>Personalizar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Calibri</vt:lpstr>
      <vt:lpstr>Arial Bold</vt:lpstr>
      <vt:lpstr>Arial</vt:lpstr>
      <vt:lpstr>Office Theme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Boletim Mensal do Mercado de Trabalho</dc:title>
  <dc:subject>Boletim</dc:subject>
  <dc:creator>User</dc:creator>
  <cp:lastModifiedBy>Welber Tomás</cp:lastModifiedBy>
  <cp:revision>4</cp:revision>
  <dcterms:created xsi:type="dcterms:W3CDTF">2006-08-16T00:00:00Z</dcterms:created>
  <dcterms:modified xsi:type="dcterms:W3CDTF">2026-04-27T14:18:08Z</dcterms:modified>
  <dc:identifier>DAHGKxnHc4U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0x0101005ACD0B3401C10644BD1A825D39D0171F</vt:lpwstr>
  </property>
  <property fmtid="{D5CDD505-2E9C-101B-9397-08002B2CF9AE}" pid="3" name="MediaServiceImageTags">
    <vt:lpwstr/>
  </property>
</Properties>
</file>